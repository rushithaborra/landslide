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4313D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5029200"/>
            <a:ext cx="2926080" cy="1828800"/>
          </a:xfrm>
          <a:prstGeom prst="triangle">
            <a:avLst/>
          </a:prstGeom>
          <a:solidFill>
            <a:srgbClr val="2E3E4C"/>
          </a:solidFill>
          <a:ln w="12700">
            <a:solidFill>
              <a:srgbClr val="2E3E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4297680"/>
            <a:ext cx="3657600" cy="2560320"/>
          </a:xfrm>
          <a:prstGeom prst="triangle">
            <a:avLst/>
          </a:prstGeom>
          <a:solidFill>
            <a:srgbClr val="2E3E4C"/>
          </a:solidFill>
          <a:ln w="12700">
            <a:solidFill>
              <a:srgbClr val="2E3E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0" y="4846320"/>
            <a:ext cx="3291840" cy="2011680"/>
          </a:xfrm>
          <a:prstGeom prst="triangle">
            <a:avLst/>
          </a:prstGeom>
          <a:solidFill>
            <a:srgbClr val="2E3E4C"/>
          </a:solidFill>
          <a:ln w="12700">
            <a:solidFill>
              <a:srgbClr val="2E3E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4114800"/>
            <a:ext cx="4114800" cy="2743200"/>
          </a:xfrm>
          <a:prstGeom prst="triangle">
            <a:avLst/>
          </a:prstGeom>
          <a:solidFill>
            <a:srgbClr val="2E3E4C"/>
          </a:solidFill>
          <a:ln w="12700">
            <a:solidFill>
              <a:srgbClr val="2E3E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5212080"/>
            <a:ext cx="2743200" cy="1645920"/>
          </a:xfrm>
          <a:prstGeom prst="triangle">
            <a:avLst/>
          </a:prstGeom>
          <a:solidFill>
            <a:srgbClr val="2E3E4C"/>
          </a:solidFill>
          <a:ln w="12700">
            <a:solidFill>
              <a:srgbClr val="2E3E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17320"/>
            <a:ext cx="146304" cy="146304"/>
          </a:xfrm>
          <a:prstGeom prst="triangle">
            <a:avLst/>
          </a:prstGeom>
          <a:solidFill>
            <a:srgbClr val="E8862C"/>
          </a:solidFill>
          <a:ln w="12700">
            <a:solidFill>
              <a:srgbClr val="E886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325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26001  ·  DISASTER MANAGEMENT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Early Warning &amp;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Landslide Risk Monitoring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703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 prototype: risk prediction + real-time alerting for the North Eastern Region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4343400"/>
            <a:ext cx="2011680" cy="0"/>
          </a:xfrm>
          <a:prstGeom prst="line">
            <a:avLst/>
          </a:prstGeom>
          <a:noFill/>
          <a:ln w="31750">
            <a:solidFill>
              <a:srgbClr val="E886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·  Branch  ·  Internal Hackathon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46304" cy="146304"/>
          </a:xfrm>
          <a:prstGeom prst="triangle">
            <a:avLst/>
          </a:prstGeom>
          <a:solidFill>
            <a:srgbClr val="E8862C"/>
          </a:solidFill>
          <a:ln w="12700">
            <a:solidFill>
              <a:srgbClr val="E886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NER's landslide response is reactive, not predictive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431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74650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terrain + heavy rainfall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07568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slopes, unplanned hill-cutting, and monsoon intensity make NER one of India's most landslide-prone regions.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8986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431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8620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reactive monitoring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191256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zones are tracked mostly through manual reporting after incidents occur — not before.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01421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431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977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villages, delayed response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30682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roads and disrupted connectivity cut off remote villages for days after an event.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51297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431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50932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predictive layer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542239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 lack a system that flags high-risk zones early enough to act preventively.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0" y="178308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2431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0" y="2057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23774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46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31546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villages can stay cut off after a slope failure blocks the only access road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9440" y="3931920"/>
            <a:ext cx="4023360" cy="0"/>
          </a:xfrm>
          <a:prstGeom prst="line">
            <a:avLst/>
          </a:prstGeom>
          <a:noFill/>
          <a:ln w="12700">
            <a:solidFill>
              <a:srgbClr val="3E516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49440" y="4114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→ Predictive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45720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shift this prototype targets — flagging risk before failure, not just reporting after.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· PS 26001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3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46304" cy="146304"/>
          </a:xfrm>
          <a:prstGeom prst="triangle">
            <a:avLst/>
          </a:prstGeom>
          <a:solidFill>
            <a:srgbClr val="E8862C"/>
          </a:solidFill>
          <a:ln w="12700">
            <a:solidFill>
              <a:srgbClr val="E886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SCOPE — AND WHY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features, built deep — not six, built shallow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expected solution spans sensors, GIS, mobile apps, multilingual alerts, and offline sync. In 4 days, we chose to make two pieces genuinely real rather than every piece a shallow mockup.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657600" cy="3749040"/>
          </a:xfrm>
          <a:prstGeom prst="roundRect">
            <a:avLst>
              <a:gd name="adj" fmla="val 2000"/>
            </a:avLst>
          </a:prstGeom>
          <a:solidFill>
            <a:srgbClr val="2E3E4C"/>
          </a:solidFill>
          <a:ln w="19050">
            <a:solidFill>
              <a:srgbClr val="E886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THIS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83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Susceptibility Model + GIS Heatmap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3434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ML model trained on DEM + historical landslide data. Outputs a validated, explainable risk zone map.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34840" y="2331720"/>
            <a:ext cx="3657600" cy="3749040"/>
          </a:xfrm>
          <a:prstGeom prst="roundRect">
            <a:avLst>
              <a:gd name="adj" fmla="val 2000"/>
            </a:avLst>
          </a:prstGeom>
          <a:solidFill>
            <a:srgbClr val="2E3E4C"/>
          </a:solidFill>
          <a:ln w="19050">
            <a:solidFill>
              <a:srgbClr val="E8862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09160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THIS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3383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+ Citizen Reporting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43434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Rainfall-threshold alert engine plus geo-tagged field reporting, closing the detect → alert → verify loop.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12480" y="2331720"/>
            <a:ext cx="3657600" cy="3749040"/>
          </a:xfrm>
          <a:prstGeom prst="roundRect">
            <a:avLst>
              <a:gd name="adj" fmla="val 2000"/>
            </a:avLst>
          </a:prstGeom>
          <a:solidFill>
            <a:srgbClr val="1B262F"/>
          </a:solidFill>
          <a:ln w="12700">
            <a:solidFill>
              <a:srgbClr val="3E516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0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A9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0" y="3063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ONLY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0" y="3383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Sensors, mobile app, multilingual, offline sync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0" y="43434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as a documented next-phase roadmap (see final slides) — not built for this round.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· PS 26001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46304" cy="146304"/>
          </a:xfrm>
          <a:prstGeom prst="triangle">
            <a:avLst/>
          </a:prstGeom>
          <a:solidFill>
            <a:srgbClr val="E8862C"/>
          </a:solidFill>
          <a:ln w="12700">
            <a:solidFill>
              <a:srgbClr val="E886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in, risk out, alert delivered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2431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04288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 + Historical</a:t>
            </a:r>
            <a:endParaRPr lang="en-US" sz="12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Landslide Data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852928"/>
            <a:ext cx="1746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terrain features: slope, aspect, drainage, land cover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 rot="5400000">
            <a:off x="2450592" y="2798064"/>
            <a:ext cx="201168" cy="164592"/>
          </a:xfrm>
          <a:prstGeom prst="triangle">
            <a:avLst/>
          </a:prstGeom>
          <a:solidFill>
            <a:srgbClr val="6B61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79192" y="21945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2431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2304288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Susceptibility</a:t>
            </a:r>
            <a:endParaRPr lang="en-US" sz="12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(ML)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852928"/>
            <a:ext cx="1746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classifier scores every zone's baseline risk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 rot="5400000">
            <a:off x="4672584" y="2798064"/>
            <a:ext cx="201168" cy="164592"/>
          </a:xfrm>
          <a:prstGeom prst="triangle">
            <a:avLst/>
          </a:prstGeom>
          <a:solidFill>
            <a:srgbClr val="6B61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01184" y="21945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2431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10912" y="2304288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Rainfall</a:t>
            </a:r>
            <a:endParaRPr lang="en-US" sz="12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010912" y="2852928"/>
            <a:ext cx="1746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intensity checked against zone-specific thresholds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 rot="5400000">
            <a:off x="6894576" y="2798064"/>
            <a:ext cx="201168" cy="164592"/>
          </a:xfrm>
          <a:prstGeom prst="triangle">
            <a:avLst/>
          </a:prstGeom>
          <a:solidFill>
            <a:srgbClr val="6B61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23176" y="21945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E88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32904" y="2304288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232904" y="2852928"/>
            <a:ext cx="1746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3A2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static susceptibility × dynamic rainfall trigger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rot="5400000">
            <a:off x="9116568" y="2798064"/>
            <a:ext cx="201168" cy="164592"/>
          </a:xfrm>
          <a:prstGeom prst="triangle">
            <a:avLst/>
          </a:prstGeom>
          <a:solidFill>
            <a:srgbClr val="6B61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45168" y="219456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2431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54896" y="2304288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Dashboard</a:t>
            </a:r>
            <a:endParaRPr lang="en-US" sz="12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Alerts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454896" y="2852928"/>
            <a:ext cx="1746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for authorities; SMS/app alert for at-risk zones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layers, kept separate on purpose: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3434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layer (ML):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susceptibility model — explainable, validated against held-out landslide points.
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layer (rules):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literature-sourced rainfall intensity-duration threshold — not disguised as ML.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5349240"/>
            <a:ext cx="10789920" cy="868680"/>
          </a:xfrm>
          <a:prstGeom prst="roundRect">
            <a:avLst>
              <a:gd name="adj" fmla="val 6316"/>
            </a:avLst>
          </a:prstGeom>
          <a:solidFill>
            <a:srgbClr val="EFE7D8"/>
          </a:solidFill>
          <a:ln w="12700">
            <a:solidFill>
              <a:srgbClr val="E8862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5623560"/>
            <a:ext cx="146304" cy="146304"/>
          </a:xfrm>
          <a:prstGeom prst="triangle">
            <a:avLst/>
          </a:prstGeom>
          <a:solidFill>
            <a:srgbClr val="E8862C"/>
          </a:solidFill>
          <a:ln w="12700">
            <a:solidFill>
              <a:srgbClr val="E8862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0120" y="546811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judging: a jury question of "is this real AI or just rules?" has a precise, honest answer instead of a deflection.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· PS 26001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46304" cy="146304"/>
          </a:xfrm>
          <a:prstGeom prst="triangle">
            <a:avLst/>
          </a:prstGeom>
          <a:solidFill>
            <a:srgbClr val="E8862C"/>
          </a:solidFill>
          <a:ln w="12700">
            <a:solidFill>
              <a:srgbClr val="E886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 — SUSCEPTIBILITY MODEL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on real terrain and landslide data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901952"/>
            <a:ext cx="128016" cy="128016"/>
          </a:xfrm>
          <a:prstGeom prst="oval">
            <a:avLst/>
          </a:prstGeom>
          <a:solidFill>
            <a:srgbClr val="E88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4650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&amp; aspect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DEM (SRTM / Bhoonidhi / Copernicus)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128016" cy="128016"/>
          </a:xfrm>
          <a:prstGeom prst="oval">
            <a:avLst/>
          </a:prstGeom>
          <a:solidFill>
            <a:srgbClr val="E88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3134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Drainage density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to streams and drainage lines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035808"/>
            <a:ext cx="128016" cy="128016"/>
          </a:xfrm>
          <a:prstGeom prst="oval">
            <a:avLst/>
          </a:prstGeom>
          <a:solidFill>
            <a:srgbClr val="E88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8803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cover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 vs. bare/cut slopes, from Sentinel-2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602736"/>
            <a:ext cx="128016" cy="128016"/>
          </a:xfrm>
          <a:prstGeom prst="oval">
            <a:avLst/>
          </a:prstGeom>
          <a:solidFill>
            <a:srgbClr val="E88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44728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incidence 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GSI landslide inventory points, labeled positive/negative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3434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Random Forest – beat logistic regression on landslide-class recall, chosen for explainability over black-box deep learning.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828800"/>
            <a:ext cx="5669280" cy="4206240"/>
          </a:xfrm>
          <a:prstGeom prst="roundRect">
            <a:avLst>
              <a:gd name="adj" fmla="val 2174"/>
            </a:avLst>
          </a:prstGeom>
          <a:solidFill>
            <a:srgbClr val="2431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2103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423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this honestly —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834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 0.78 (Random Forest, held-out validation)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6118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1,531 real points (765 GSI landslide sites + 766 road-bias-corrected negatives), held-out split.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4297680"/>
            <a:ext cx="4572000" cy="0"/>
          </a:xfrm>
          <a:prstGeom prst="line">
            <a:avLst/>
          </a:prstGeom>
          <a:noFill/>
          <a:ln w="12700">
            <a:solidFill>
              <a:srgbClr val="3E516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44805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3-tier risk classification (Low / Moderate / High) per grid cell, mapped to villages and road segments.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· PS 26001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3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46304" cy="146304"/>
          </a:xfrm>
          <a:prstGeom prst="triangle">
            <a:avLst/>
          </a:prstGeom>
          <a:solidFill>
            <a:srgbClr val="E8862C"/>
          </a:solidFill>
          <a:ln w="12700">
            <a:solidFill>
              <a:srgbClr val="E886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 — GIS RISK DASHBOARD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authorities see the risk, at a glance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6949440" cy="4389120"/>
          </a:xfrm>
          <a:prstGeom prst="roundRect">
            <a:avLst>
              <a:gd name="adj" fmla="val 1667"/>
            </a:avLst>
          </a:prstGeom>
          <a:solidFill>
            <a:srgbClr val="1B262F"/>
          </a:solidFill>
          <a:ln w="12700">
            <a:solidFill>
              <a:srgbClr val="3E51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65960"/>
            <a:ext cx="6492240" cy="365760"/>
          </a:xfrm>
          <a:prstGeom prst="roundRect">
            <a:avLst>
              <a:gd name="adj" fmla="val 10000"/>
            </a:avLst>
          </a:prstGeom>
          <a:solidFill>
            <a:srgbClr val="2E3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93392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MAP VIEW — RISK HEATMAP ]  Low  Moderate  High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514600"/>
            <a:ext cx="1645920" cy="1371600"/>
          </a:xfrm>
          <a:prstGeom prst="roundRect">
            <a:avLst>
              <a:gd name="adj" fmla="val 3333"/>
            </a:avLst>
          </a:prstGeom>
          <a:solidFill>
            <a:srgbClr val="3D6B3F">
              <a:alpha val="85000"/>
            </a:srgbClr>
          </a:solidFill>
          <a:ln w="19050">
            <a:solidFill>
              <a:srgbClr val="1B26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2514600"/>
            <a:ext cx="1463040" cy="1737360"/>
          </a:xfrm>
          <a:prstGeom prst="roundRect">
            <a:avLst>
              <a:gd name="adj" fmla="val 3125"/>
            </a:avLst>
          </a:prstGeom>
          <a:solidFill>
            <a:srgbClr val="C97E1E">
              <a:alpha val="85000"/>
            </a:srgbClr>
          </a:solidFill>
          <a:ln w="19050">
            <a:solidFill>
              <a:srgbClr val="1B26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2651760"/>
            <a:ext cx="1371600" cy="1188720"/>
          </a:xfrm>
          <a:prstGeom prst="roundRect">
            <a:avLst>
              <a:gd name="adj" fmla="val 3846"/>
            </a:avLst>
          </a:prstGeom>
          <a:solidFill>
            <a:srgbClr val="B23B2E">
              <a:alpha val="85000"/>
            </a:srgbClr>
          </a:solidFill>
          <a:ln w="19050">
            <a:solidFill>
              <a:srgbClr val="1B262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2514600"/>
            <a:ext cx="1188720" cy="1463040"/>
          </a:xfrm>
          <a:prstGeom prst="roundRect">
            <a:avLst>
              <a:gd name="adj" fmla="val 3846"/>
            </a:avLst>
          </a:prstGeom>
          <a:solidFill>
            <a:srgbClr val="3D6B3F">
              <a:alpha val="85000"/>
            </a:srgbClr>
          </a:solidFill>
          <a:ln w="19050">
            <a:solidFill>
              <a:srgbClr val="1B262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023360"/>
            <a:ext cx="1463040" cy="1737360"/>
          </a:xfrm>
          <a:prstGeom prst="roundRect">
            <a:avLst>
              <a:gd name="adj" fmla="val 3125"/>
            </a:avLst>
          </a:prstGeom>
          <a:solidFill>
            <a:srgbClr val="C97E1E">
              <a:alpha val="85000"/>
            </a:srgbClr>
          </a:solidFill>
          <a:ln w="19050">
            <a:solidFill>
              <a:srgbClr val="1B262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4389120"/>
            <a:ext cx="1371600" cy="1371600"/>
          </a:xfrm>
          <a:prstGeom prst="roundRect">
            <a:avLst>
              <a:gd name="adj" fmla="val 3333"/>
            </a:avLst>
          </a:prstGeom>
          <a:solidFill>
            <a:srgbClr val="3D6B3F">
              <a:alpha val="85000"/>
            </a:srgbClr>
          </a:solidFill>
          <a:ln w="19050">
            <a:solidFill>
              <a:srgbClr val="1B26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3977640"/>
            <a:ext cx="1554480" cy="1828800"/>
          </a:xfrm>
          <a:prstGeom prst="roundRect">
            <a:avLst>
              <a:gd name="adj" fmla="val 2941"/>
            </a:avLst>
          </a:prstGeom>
          <a:solidFill>
            <a:srgbClr val="B23B2E">
              <a:alpha val="85000"/>
            </a:srgbClr>
          </a:solidFill>
          <a:ln w="19050">
            <a:solidFill>
              <a:srgbClr val="1B262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15000" y="4160520"/>
            <a:ext cx="1188720" cy="1554480"/>
          </a:xfrm>
          <a:prstGeom prst="roundRect">
            <a:avLst>
              <a:gd name="adj" fmla="val 3846"/>
            </a:avLst>
          </a:prstGeom>
          <a:solidFill>
            <a:srgbClr val="C97E1E">
              <a:alpha val="85000"/>
            </a:srgbClr>
          </a:solidFill>
          <a:ln w="19050">
            <a:solidFill>
              <a:srgbClr val="1B262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0" y="17830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8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0" y="1737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severity levels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20574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per zone; click any zone for its full rainfall history and alert record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89520" y="28346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8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0" y="2788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connectivity status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31089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at-risk road segments, grouped into highway corridors (NH/SH) for corridor-level triage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89520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8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0" y="3840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Weather-linked forecast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41605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trend overlaid on susceptibility layer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589520" y="49377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8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0" y="4892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prioritisation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52120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zones for authorities to act on first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· PS 26001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46304" cy="146304"/>
          </a:xfrm>
          <a:prstGeom prst="triangle">
            <a:avLst/>
          </a:prstGeom>
          <a:solidFill>
            <a:srgbClr val="E8862C"/>
          </a:solidFill>
          <a:ln w="12700">
            <a:solidFill>
              <a:srgbClr val="E886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 — ALERTS + CITIZEN REPORTING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loop: detect, alert, verify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2431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3317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Threshold Breach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971800"/>
            <a:ext cx="22037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D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rainfall crosses the intensity-duration threshold for a high-susceptibility zone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5C4A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01568" y="23317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Alert Fired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01568" y="2971800"/>
            <a:ext cx="22037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D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SMS sent to citizen subscribers via Twilio; escalating to Critical also places a real phone call to on-call authorities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2431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44768" y="23317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Citizen Verifies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144768" y="2971800"/>
            <a:ext cx="22037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D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official or resident uploads a geo-tagged photo of the actual ground condition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0" y="210312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5C4A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87968" y="233172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Dashboard Updates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887968" y="2971800"/>
            <a:ext cx="22037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D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report appears on the GIS dashboard, confirming or downgrading the alert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5623560"/>
            <a:ext cx="10789920" cy="594360"/>
          </a:xfrm>
          <a:prstGeom prst="roundRect">
            <a:avLst>
              <a:gd name="adj" fmla="val 9231"/>
            </a:avLst>
          </a:prstGeom>
          <a:solidFill>
            <a:srgbClr val="EFE7D8"/>
          </a:solidFill>
          <a:ln w="12700">
            <a:solidFill>
              <a:srgbClr val="E8862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57424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source: published rainfall intensity-duration studies for NE India — not an invented cutoff.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· PS 26001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3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46304" cy="146304"/>
          </a:xfrm>
          <a:prstGeom prst="triangle">
            <a:avLst/>
          </a:prstGeom>
          <a:solidFill>
            <a:srgbClr val="E8862C"/>
          </a:solidFill>
          <a:ln w="12700">
            <a:solidFill>
              <a:srgbClr val="E886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accessible, well-documented tools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2E3E4C"/>
          </a:solidFill>
          <a:ln w="12700">
            <a:solidFill>
              <a:srgbClr val="3E516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03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GIS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QGIS, SRTM/Bhoonidhi DEM, GSI landslide inventory, Sentinel-2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2E3E4C"/>
          </a:solidFill>
          <a:ln w="12700">
            <a:solidFill>
              <a:srgbClr val="3E51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520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8862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scikit-learn (logistic regression / random forest)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80060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2E3E4C"/>
          </a:solidFill>
          <a:ln w="12700">
            <a:solidFill>
              <a:srgbClr val="3E516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4937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3035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(Python), PostgreSQL + PostGIS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196596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2E3E4C"/>
          </a:solidFill>
          <a:ln w="12700">
            <a:solidFill>
              <a:srgbClr val="3E516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2103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Data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4688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Open-Meteo, live and verified (IMD access not reachable this round)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338328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2E3E4C"/>
          </a:solidFill>
          <a:ln w="12700">
            <a:solidFill>
              <a:srgbClr val="3E516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3520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8862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Leaflet (OpenStreetMap, no API key) for heatmap visualization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480060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2E3E4C"/>
          </a:solidFill>
          <a:ln w="12700">
            <a:solidFill>
              <a:srgbClr val="3E516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4937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53035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logged in-app; real SMS/voice delivery built (Twilio), pending credential activation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· PS 26001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46304" cy="146304"/>
          </a:xfrm>
          <a:prstGeom prst="triangle">
            <a:avLst/>
          </a:prstGeom>
          <a:solidFill>
            <a:srgbClr val="E8862C"/>
          </a:solidFill>
          <a:ln w="12700">
            <a:solidFill>
              <a:srgbClr val="E886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real in this build vs. what's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E9F0E7"/>
          </a:solidFill>
          <a:ln w="19050">
            <a:solidFill>
              <a:srgbClr val="3D6B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REAL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505456"/>
            <a:ext cx="91440" cy="91440"/>
          </a:xfrm>
          <a:prstGeom prst="oval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77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Susceptibility model live for 3,921 real zones across Sikkim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163824"/>
            <a:ext cx="91440" cy="91440"/>
          </a:xfrm>
          <a:prstGeom prst="oval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30358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threshold sourced from a published Sikkim study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822192"/>
            <a:ext cx="91440" cy="91440"/>
          </a:xfrm>
          <a:prstGeom prst="oval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36941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dashboard live: heatmap, highway corridors, and per-zone drill-down, real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480560"/>
            <a:ext cx="91440" cy="91440"/>
          </a:xfrm>
          <a:prstGeom prst="oval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435254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engine has fired real alerts; real SMS/voice delivery built (Twilio), pending activation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5138928"/>
            <a:ext cx="91440" cy="91440"/>
          </a:xfrm>
          <a:prstGeom prst="oval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50109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reporting, officer verification, and broadcast escalation, live end-to-end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1783080"/>
            <a:ext cx="5669280" cy="4206240"/>
          </a:xfrm>
          <a:prstGeom prst="roundRect">
            <a:avLst>
              <a:gd name="adj" fmla="val 1739"/>
            </a:avLst>
          </a:prstGeom>
          <a:solidFill>
            <a:srgbClr val="EFE7D8"/>
          </a:solidFill>
          <a:ln w="19050">
            <a:solidFill>
              <a:srgbClr val="E8862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NEXT PHASE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2505456"/>
            <a:ext cx="91440" cy="91440"/>
          </a:xfrm>
          <a:prstGeom prst="oval">
            <a:avLst/>
          </a:prstGeom>
          <a:solidFill>
            <a:srgbClr val="A86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29400" y="23774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In-situ soil moisture sensors (currently: satellite proxy)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0" y="3163824"/>
            <a:ext cx="91440" cy="91440"/>
          </a:xfrm>
          <a:prstGeom prst="oval">
            <a:avLst/>
          </a:prstGeom>
          <a:solidFill>
            <a:srgbClr val="A86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29400" y="30358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multilingual SMS/app support across NER languages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3822192"/>
            <a:ext cx="91440" cy="91440"/>
          </a:xfrm>
          <a:prstGeom prst="oval">
            <a:avLst/>
          </a:prstGeom>
          <a:solidFill>
            <a:srgbClr val="A86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29400" y="369417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mobile app with sync-on-reconnect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0" y="4480560"/>
            <a:ext cx="91440" cy="91440"/>
          </a:xfrm>
          <a:prstGeom prst="oval">
            <a:avLst/>
          </a:prstGeom>
          <a:solidFill>
            <a:srgbClr val="A86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29400" y="435254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expansion under way: multi-state architecture live, Assam's own model trained, zones not yet live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0" y="5138928"/>
            <a:ext cx="91440" cy="91440"/>
          </a:xfrm>
          <a:prstGeom prst="oval">
            <a:avLst/>
          </a:prstGeom>
          <a:solidFill>
            <a:srgbClr val="A863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29400" y="50109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data-sharing MoU with IMD and state disaster authorities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· PS 26001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1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3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66928"/>
            <a:ext cx="146304" cy="146304"/>
          </a:xfrm>
          <a:prstGeom prst="triangle">
            <a:avLst/>
          </a:prstGeom>
          <a:solidFill>
            <a:srgbClr val="E8862C"/>
          </a:solidFill>
          <a:ln w="12700">
            <a:solidFill>
              <a:srgbClr val="E886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reactive reporting to preventive action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2E3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286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8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Earlier warning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5661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 get zone-level risk flags before rainfall peaks, not after failure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201168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2E3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2286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8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verification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5661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reports confirm ground truth in near real time, reducing false alarms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2E3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2286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8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prioritisation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5661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teams focus on highest-risk zones first, using the dashboard ranking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98280" y="201168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2E3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0" y="2286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8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2688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 foundation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35661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validated on one state, architecture ready to extend across NER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· PS 26001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3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5394960"/>
            <a:ext cx="2926080" cy="1463040"/>
          </a:xfrm>
          <a:prstGeom prst="triangle">
            <a:avLst/>
          </a:prstGeom>
          <a:solidFill>
            <a:srgbClr val="2E3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4846320"/>
            <a:ext cx="3657600" cy="2011680"/>
          </a:xfrm>
          <a:prstGeom prst="triangle">
            <a:avLst/>
          </a:prstGeom>
          <a:solidFill>
            <a:srgbClr val="2E3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0" y="5212080"/>
            <a:ext cx="3291840" cy="1645920"/>
          </a:xfrm>
          <a:prstGeom prst="triangle">
            <a:avLst/>
          </a:prstGeom>
          <a:solidFill>
            <a:srgbClr val="2E3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4663440"/>
            <a:ext cx="4114800" cy="2194560"/>
          </a:xfrm>
          <a:prstGeom prst="triangle">
            <a:avLst/>
          </a:prstGeom>
          <a:solidFill>
            <a:srgbClr val="2E3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0" y="5486400"/>
            <a:ext cx="2743200" cy="1371600"/>
          </a:xfrm>
          <a:prstGeom prst="triangle">
            <a:avLst/>
          </a:prstGeom>
          <a:solidFill>
            <a:srgbClr val="2E3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377440"/>
            <a:ext cx="146304" cy="146304"/>
          </a:xfrm>
          <a:prstGeom prst="triangle">
            <a:avLst/>
          </a:prstGeom>
          <a:solidFill>
            <a:srgbClr val="E8862C"/>
          </a:solidFill>
          <a:ln w="12700">
            <a:solidFill>
              <a:srgbClr val="E886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286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including the hard ones.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2011680" cy="0"/>
          </a:xfrm>
          <a:prstGeom prst="line">
            <a:avLst/>
          </a:prstGeom>
          <a:noFill/>
          <a:ln w="31750">
            <a:solidFill>
              <a:srgbClr val="E886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·  Branch  ·  Internal Hackathon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2026-08-29T06:40:51Z</dcterms:created>
  <dcterms:modified xsi:type="dcterms:W3CDTF">2026-08-29T06:40:51Z</dcterms:modified>
</cp:coreProperties>
</file>