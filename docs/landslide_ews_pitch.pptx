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3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4313D"/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5029200"/>
            <a:ext cx="2926080" cy="1828800"/>
          </a:xfrm>
          <a:prstGeom prst="triangle">
            <a:avLst/>
          </a:prstGeom>
          <a:solidFill>
            <a:srgbClr val="2E3E4C"/>
          </a:solidFill>
          <a:ln w="12700">
            <a:solidFill>
              <a:srgbClr val="2E3E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4297680"/>
            <a:ext cx="3657600" cy="2560320"/>
          </a:xfrm>
          <a:prstGeom prst="triangle">
            <a:avLst/>
          </a:prstGeom>
          <a:solidFill>
            <a:srgbClr val="2E3E4C"/>
          </a:solidFill>
          <a:ln w="12700">
            <a:solidFill>
              <a:srgbClr val="2E3E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0" y="4846320"/>
            <a:ext cx="3291840" cy="2011680"/>
          </a:xfrm>
          <a:prstGeom prst="triangle">
            <a:avLst/>
          </a:prstGeom>
          <a:solidFill>
            <a:srgbClr val="2E3E4C"/>
          </a:solidFill>
          <a:ln w="12700">
            <a:solidFill>
              <a:srgbClr val="2E3E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0" y="4114800"/>
            <a:ext cx="4114800" cy="2743200"/>
          </a:xfrm>
          <a:prstGeom prst="triangle">
            <a:avLst/>
          </a:prstGeom>
          <a:solidFill>
            <a:srgbClr val="2E3E4C"/>
          </a:solidFill>
          <a:ln w="12700">
            <a:solidFill>
              <a:srgbClr val="2E3E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0" y="5212080"/>
            <a:ext cx="2743200" cy="1645920"/>
          </a:xfrm>
          <a:prstGeom prst="triangle">
            <a:avLst/>
          </a:prstGeom>
          <a:solidFill>
            <a:srgbClr val="2E3E4C"/>
          </a:solidFill>
          <a:ln w="12700">
            <a:solidFill>
              <a:srgbClr val="2E3E4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417320"/>
            <a:ext cx="146304" cy="146304"/>
          </a:xfrm>
          <a:prstGeom prst="triangle">
            <a:avLst/>
          </a:prstGeom>
          <a:solidFill>
            <a:srgbClr val="E8862C"/>
          </a:solidFill>
          <a:ln w="12700">
            <a:solidFill>
              <a:srgbClr val="E8862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13258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26001  ·  DISASTER MANAGEMENT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182880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AI-Based Early Warning &amp;</a:t>
            </a:r>
            <a:endParaRPr lang="en-US" sz="44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Landslide Risk Monitoring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7033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focused prototype: risk prediction + real-time alerting for the North Eastern Region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" y="4343400"/>
            <a:ext cx="2011680" cy="0"/>
          </a:xfrm>
          <a:prstGeom prst="line">
            <a:avLst/>
          </a:prstGeom>
          <a:noFill/>
          <a:ln w="31750">
            <a:solidFill>
              <a:srgbClr val="E8862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  ·  Branch  ·  Internal Hackathon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66928"/>
            <a:ext cx="146304" cy="146304"/>
          </a:xfrm>
          <a:prstGeom prst="triangle">
            <a:avLst/>
          </a:prstGeom>
          <a:solidFill>
            <a:srgbClr val="E8862C"/>
          </a:solidFill>
          <a:ln w="12700">
            <a:solidFill>
              <a:srgbClr val="E8862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3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NER's landslide response is reactive, not predictive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431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74650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Fragile terrain + heavy rainfall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07568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Steep slopes, unplanned hill-cutting, and monsoon intensity make NER one of India's most landslide-prone regions.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89864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431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898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86207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reactive monitoring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3191256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 zones are tracked mostly through manual reporting after incidents occur — not before.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401421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431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4014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39776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villages, delayed response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306824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roads and disrupted connectivity cut off remote villages for days after an event.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512978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431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5129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509320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predictive layer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5422392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Authorities lack a system that flags high-risk zones early enough to act preventively.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583680" y="1783080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2431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949440" y="20574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949440" y="237744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Days</a:t>
            </a:r>
            <a:endParaRPr lang="en-US" sz="4600" dirty="0"/>
          </a:p>
        </p:txBody>
      </p:sp>
      <p:sp>
        <p:nvSpPr>
          <p:cNvPr id="24" name="Text 22"/>
          <p:cNvSpPr txBox="1"/>
          <p:nvPr/>
        </p:nvSpPr>
        <p:spPr>
          <a:xfrm>
            <a:off x="6949440" y="315468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villages can stay cut off after a slope failure blocks the only access road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949440" y="3931920"/>
            <a:ext cx="4023360" cy="0"/>
          </a:xfrm>
          <a:prstGeom prst="line">
            <a:avLst/>
          </a:prstGeom>
          <a:noFill/>
          <a:ln w="12700">
            <a:solidFill>
              <a:srgbClr val="3E516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949440" y="41148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Reactive → Predictive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6949440" y="45720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shift this prototype targets — flagging risk before failure, not just reporting after.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· PS 26001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161288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43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66928"/>
            <a:ext cx="146304" cy="146304"/>
          </a:xfrm>
          <a:prstGeom prst="triangle">
            <a:avLst/>
          </a:prstGeom>
          <a:solidFill>
            <a:srgbClr val="E8862C"/>
          </a:solidFill>
          <a:ln w="12700">
            <a:solidFill>
              <a:srgbClr val="E8862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SCOPE — AND WHY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features, built deep — not six, built shallow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0876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expected solution spans sensors, GIS, mobile apps, multilingual alerts, and offline sync. In 4 days, we chose to make two pieces genuinely real rather than every piece a shallow mockup.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3657600" cy="3749040"/>
          </a:xfrm>
          <a:prstGeom prst="roundRect">
            <a:avLst>
              <a:gd name="adj" fmla="val 2000"/>
            </a:avLst>
          </a:prstGeom>
          <a:solidFill>
            <a:srgbClr val="2E3E4C"/>
          </a:solidFill>
          <a:ln w="19050">
            <a:solidFill>
              <a:srgbClr val="E8862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5603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8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063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8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THIS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3832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Susceptibility Model + GIS Heatmap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434340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ML model trained on DEM + historical landslide data. Outputs a validated, explainable risk zone map.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434840" y="2331720"/>
            <a:ext cx="3657600" cy="3749040"/>
          </a:xfrm>
          <a:prstGeom prst="roundRect">
            <a:avLst>
              <a:gd name="adj" fmla="val 2000"/>
            </a:avLst>
          </a:prstGeom>
          <a:solidFill>
            <a:srgbClr val="2E3E4C"/>
          </a:solidFill>
          <a:ln w="19050">
            <a:solidFill>
              <a:srgbClr val="E8862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09160" y="25603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8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3063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8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THIS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33832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Alerts + Citizen Reporting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709160" y="434340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Rainfall-threshold alert engine plus geo-tagged field reporting, closing the detect → alert → verify loop.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412480" y="2331720"/>
            <a:ext cx="3657600" cy="3749040"/>
          </a:xfrm>
          <a:prstGeom prst="roundRect">
            <a:avLst>
              <a:gd name="adj" fmla="val 2000"/>
            </a:avLst>
          </a:prstGeom>
          <a:solidFill>
            <a:srgbClr val="1B262F"/>
          </a:solidFill>
          <a:ln w="12700">
            <a:solidFill>
              <a:srgbClr val="3E516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0" y="25603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A9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0" y="3063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ONLY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0" y="33832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Sensors, mobile app, multilingual, offline sync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686800" y="434340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as a documented next-phase roadmap (see final slides) — not built for this round.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· PS 26001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161288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66928"/>
            <a:ext cx="146304" cy="146304"/>
          </a:xfrm>
          <a:prstGeom prst="triangle">
            <a:avLst/>
          </a:prstGeom>
          <a:solidFill>
            <a:srgbClr val="E8862C"/>
          </a:solidFill>
          <a:ln w="12700">
            <a:solidFill>
              <a:srgbClr val="E8862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FLOW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3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in, risk out, alert delivered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2431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2304288"/>
            <a:ext cx="1746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 + Historical</a:t>
            </a:r>
            <a:endParaRPr lang="en-US" sz="12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Landslide Data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852928"/>
            <a:ext cx="17465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terrain features: slope, aspect, drainage, land cover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 rot="5400000">
            <a:off x="2450592" y="2798064"/>
            <a:ext cx="201168" cy="164592"/>
          </a:xfrm>
          <a:prstGeom prst="triangle">
            <a:avLst/>
          </a:prstGeom>
          <a:solidFill>
            <a:srgbClr val="6B61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79192" y="219456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2431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88920" y="2304288"/>
            <a:ext cx="1746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Susceptibility</a:t>
            </a:r>
            <a:endParaRPr lang="en-US" sz="12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(ML)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2788920" y="2852928"/>
            <a:ext cx="17465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classifier scores every zone's baseline risk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 rot="5400000">
            <a:off x="4672584" y="2798064"/>
            <a:ext cx="201168" cy="164592"/>
          </a:xfrm>
          <a:prstGeom prst="triangle">
            <a:avLst/>
          </a:prstGeom>
          <a:solidFill>
            <a:srgbClr val="6B61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01184" y="219456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2431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10912" y="2304288"/>
            <a:ext cx="1746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Rainfall</a:t>
            </a:r>
            <a:endParaRPr lang="en-US" sz="12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010912" y="2852928"/>
            <a:ext cx="17465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intensity checked against zone-specific thresholds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 rot="5400000">
            <a:off x="6894576" y="2798064"/>
            <a:ext cx="201168" cy="164592"/>
          </a:xfrm>
          <a:prstGeom prst="triangle">
            <a:avLst/>
          </a:prstGeom>
          <a:solidFill>
            <a:srgbClr val="6B61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23176" y="219456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E886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32904" y="2304288"/>
            <a:ext cx="1746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Engine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7232904" y="2852928"/>
            <a:ext cx="17465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3A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static susceptibility × dynamic rainfall trigger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 rot="5400000">
            <a:off x="9116568" y="2798064"/>
            <a:ext cx="201168" cy="164592"/>
          </a:xfrm>
          <a:prstGeom prst="triangle">
            <a:avLst/>
          </a:prstGeom>
          <a:solidFill>
            <a:srgbClr val="6B61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45168" y="219456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2431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454896" y="2304288"/>
            <a:ext cx="1746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Dashboard</a:t>
            </a:r>
            <a:endParaRPr lang="en-US" sz="12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Alerts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9454896" y="2852928"/>
            <a:ext cx="17465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for authorities; SMS/app alert for at-risk zones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3977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layers, kept separate on purpose: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3434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24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layer (ML): </a:t>
            </a:r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6B6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susceptibility model — explainable, validated against held-out landslide points.
</a:t>
            </a:r>
            <a:pPr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24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layer (rules): </a:t>
            </a:r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6B6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literature-sourced rainfall intensity-duration threshold — not disguised as ML.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57200" y="5349240"/>
            <a:ext cx="10789920" cy="868680"/>
          </a:xfrm>
          <a:prstGeom prst="roundRect">
            <a:avLst>
              <a:gd name="adj" fmla="val 6316"/>
            </a:avLst>
          </a:prstGeom>
          <a:solidFill>
            <a:srgbClr val="EFE7D8"/>
          </a:solidFill>
          <a:ln w="12700">
            <a:solidFill>
              <a:srgbClr val="E8862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5800" y="5623560"/>
            <a:ext cx="146304" cy="146304"/>
          </a:xfrm>
          <a:prstGeom prst="triangle">
            <a:avLst/>
          </a:prstGeom>
          <a:solidFill>
            <a:srgbClr val="E8862C"/>
          </a:solidFill>
          <a:ln w="12700">
            <a:solidFill>
              <a:srgbClr val="E8862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60120" y="546811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5C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for judging: a jury question of "is this real AI or just rules?" has a precise, honest answer instead of a deflection.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· PS 26001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161288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66928"/>
            <a:ext cx="146304" cy="146304"/>
          </a:xfrm>
          <a:prstGeom prst="triangle">
            <a:avLst/>
          </a:prstGeom>
          <a:solidFill>
            <a:srgbClr val="E8862C"/>
          </a:solidFill>
          <a:ln w="12700">
            <a:solidFill>
              <a:srgbClr val="E8862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1 — SUSCEPTIBILITY MODEL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3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Trained on real terrain and landslide data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901952"/>
            <a:ext cx="128016" cy="128016"/>
          </a:xfrm>
          <a:prstGeom prst="oval">
            <a:avLst/>
          </a:prstGeom>
          <a:solidFill>
            <a:srgbClr val="E886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746504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4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 &amp; aspect  </a:t>
            </a:r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B6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from DEM (SRTM / Bhoonidhi / Copernicus)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128016" cy="128016"/>
          </a:xfrm>
          <a:prstGeom prst="oval">
            <a:avLst/>
          </a:prstGeom>
          <a:solidFill>
            <a:srgbClr val="E886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31343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4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Drainage density  </a:t>
            </a:r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B6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Proximity to streams and drainage lines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3035808"/>
            <a:ext cx="128016" cy="128016"/>
          </a:xfrm>
          <a:prstGeom prst="oval">
            <a:avLst/>
          </a:prstGeom>
          <a:solidFill>
            <a:srgbClr val="E886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8803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4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cover  </a:t>
            </a:r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B6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Vegetation vs. bare/cut slopes, from Sentinel-2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602736"/>
            <a:ext cx="128016" cy="128016"/>
          </a:xfrm>
          <a:prstGeom prst="oval">
            <a:avLst/>
          </a:prstGeom>
          <a:solidFill>
            <a:srgbClr val="E886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344728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4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incidence  </a:t>
            </a:r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B6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GSI landslide inventory points, labeled positive/negative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3434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5C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logistic regression / random forest classifier — chosen for explainability over black-box deep learning, given data volume.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1828800"/>
            <a:ext cx="5669280" cy="4206240"/>
          </a:xfrm>
          <a:prstGeom prst="roundRect">
            <a:avLst>
              <a:gd name="adj" fmla="val 2174"/>
            </a:avLst>
          </a:prstGeom>
          <a:solidFill>
            <a:srgbClr val="2431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0" y="21031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VALIDATION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24231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report this honestly —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28346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[AUC / accuracy on held-out points]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36118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your actual validation metric here after training — do not present an invented number.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0" y="4297680"/>
            <a:ext cx="4572000" cy="0"/>
          </a:xfrm>
          <a:prstGeom prst="line">
            <a:avLst/>
          </a:prstGeom>
          <a:noFill/>
          <a:ln w="12700">
            <a:solidFill>
              <a:srgbClr val="3E516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0" y="448056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 3-tier risk classification (Low / Moderate / High) per grid cell, mapped to villages and road segments.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· PS 26001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161288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43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66928"/>
            <a:ext cx="146304" cy="146304"/>
          </a:xfrm>
          <a:prstGeom prst="triangle">
            <a:avLst/>
          </a:prstGeom>
          <a:solidFill>
            <a:srgbClr val="E8862C"/>
          </a:solidFill>
          <a:ln w="12700">
            <a:solidFill>
              <a:srgbClr val="E8862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1 — GIS RISK DASHBOARD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authorities see the risk, at a glance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6949440" cy="4389120"/>
          </a:xfrm>
          <a:prstGeom prst="roundRect">
            <a:avLst>
              <a:gd name="adj" fmla="val 1667"/>
            </a:avLst>
          </a:prstGeom>
          <a:solidFill>
            <a:srgbClr val="1B262F"/>
          </a:solidFill>
          <a:ln w="12700">
            <a:solidFill>
              <a:srgbClr val="3E516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965960"/>
            <a:ext cx="6492240" cy="365760"/>
          </a:xfrm>
          <a:prstGeom prst="roundRect">
            <a:avLst>
              <a:gd name="adj" fmla="val 10000"/>
            </a:avLst>
          </a:prstGeom>
          <a:solidFill>
            <a:srgbClr val="2E3E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993392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MAP VIEW — RISK HEATMAP ]  Low  Moderate  High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14400" y="2514600"/>
            <a:ext cx="1645920" cy="1371600"/>
          </a:xfrm>
          <a:prstGeom prst="roundRect">
            <a:avLst>
              <a:gd name="adj" fmla="val 3333"/>
            </a:avLst>
          </a:prstGeom>
          <a:solidFill>
            <a:srgbClr val="3D6B3F">
              <a:alpha val="85000"/>
            </a:srgbClr>
          </a:solidFill>
          <a:ln w="19050">
            <a:solidFill>
              <a:srgbClr val="1B262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51760" y="2514600"/>
            <a:ext cx="1463040" cy="1737360"/>
          </a:xfrm>
          <a:prstGeom prst="roundRect">
            <a:avLst>
              <a:gd name="adj" fmla="val 3125"/>
            </a:avLst>
          </a:prstGeom>
          <a:solidFill>
            <a:srgbClr val="C97E1E">
              <a:alpha val="85000"/>
            </a:srgbClr>
          </a:solidFill>
          <a:ln w="19050">
            <a:solidFill>
              <a:srgbClr val="1B262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0" y="2651760"/>
            <a:ext cx="1371600" cy="1188720"/>
          </a:xfrm>
          <a:prstGeom prst="roundRect">
            <a:avLst>
              <a:gd name="adj" fmla="val 3846"/>
            </a:avLst>
          </a:prstGeom>
          <a:solidFill>
            <a:srgbClr val="B23B2E">
              <a:alpha val="85000"/>
            </a:srgbClr>
          </a:solidFill>
          <a:ln w="19050">
            <a:solidFill>
              <a:srgbClr val="1B262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0" y="2514600"/>
            <a:ext cx="1188720" cy="1463040"/>
          </a:xfrm>
          <a:prstGeom prst="roundRect">
            <a:avLst>
              <a:gd name="adj" fmla="val 3846"/>
            </a:avLst>
          </a:prstGeom>
          <a:solidFill>
            <a:srgbClr val="3D6B3F">
              <a:alpha val="85000"/>
            </a:srgbClr>
          </a:solidFill>
          <a:ln w="19050">
            <a:solidFill>
              <a:srgbClr val="1B262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4023360"/>
            <a:ext cx="1463040" cy="1737360"/>
          </a:xfrm>
          <a:prstGeom prst="roundRect">
            <a:avLst>
              <a:gd name="adj" fmla="val 3125"/>
            </a:avLst>
          </a:prstGeom>
          <a:solidFill>
            <a:srgbClr val="C97E1E">
              <a:alpha val="85000"/>
            </a:srgbClr>
          </a:solidFill>
          <a:ln w="19050">
            <a:solidFill>
              <a:srgbClr val="1B262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14600" y="4389120"/>
            <a:ext cx="1371600" cy="1371600"/>
          </a:xfrm>
          <a:prstGeom prst="roundRect">
            <a:avLst>
              <a:gd name="adj" fmla="val 3333"/>
            </a:avLst>
          </a:prstGeom>
          <a:solidFill>
            <a:srgbClr val="3D6B3F">
              <a:alpha val="85000"/>
            </a:srgbClr>
          </a:solidFill>
          <a:ln w="19050">
            <a:solidFill>
              <a:srgbClr val="1B262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023360" y="3977640"/>
            <a:ext cx="1554480" cy="1828800"/>
          </a:xfrm>
          <a:prstGeom prst="roundRect">
            <a:avLst>
              <a:gd name="adj" fmla="val 2941"/>
            </a:avLst>
          </a:prstGeom>
          <a:solidFill>
            <a:srgbClr val="B23B2E">
              <a:alpha val="85000"/>
            </a:srgbClr>
          </a:solidFill>
          <a:ln w="19050">
            <a:solidFill>
              <a:srgbClr val="1B262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15000" y="4160520"/>
            <a:ext cx="1188720" cy="1554480"/>
          </a:xfrm>
          <a:prstGeom prst="roundRect">
            <a:avLst>
              <a:gd name="adj" fmla="val 3846"/>
            </a:avLst>
          </a:prstGeom>
          <a:solidFill>
            <a:srgbClr val="C97E1E">
              <a:alpha val="85000"/>
            </a:srgbClr>
          </a:solidFill>
          <a:ln w="19050">
            <a:solidFill>
              <a:srgbClr val="1B262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589520" y="17830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E886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46720" y="17373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severity levels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8046720" y="20574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per zone, updated as rainfall data changes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589520" y="283464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E886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046720" y="27889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connectivity status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8046720" y="31089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at-risk road segments before they fail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589520" y="38862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E886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046720" y="38404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Weather-linked forecast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8046720" y="41605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trend overlaid on susceptibility layer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589520" y="493776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E886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046720" y="4892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prioritisation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8046720" y="52120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zones for authorities to act on first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· PS 26001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161288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66928"/>
            <a:ext cx="146304" cy="146304"/>
          </a:xfrm>
          <a:prstGeom prst="triangle">
            <a:avLst/>
          </a:prstGeom>
          <a:solidFill>
            <a:srgbClr val="E8862C"/>
          </a:solidFill>
          <a:ln w="12700">
            <a:solidFill>
              <a:srgbClr val="E8862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2 — ALERTS + CITIZEN REPORTING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3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Closing the loop: detect, alert, verify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2431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2331720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8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Threshold Breach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971800"/>
            <a:ext cx="22037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DE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rainfall crosses the intensity-duration threshold for a high-susceptibility zone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0" y="210312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5C4A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01568" y="2331720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8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Alert Fired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401568" y="2971800"/>
            <a:ext cx="22037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DE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SMS / app notification sent to district admin + local contacts in that zone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43600" y="210312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2431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44768" y="2331720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8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Citizen Verifies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144768" y="2971800"/>
            <a:ext cx="22037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DE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official or resident uploads a geo-tagged photo of the actual ground condition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686800" y="210312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5C4A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887968" y="2331720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8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Dashboard Updates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887968" y="2971800"/>
            <a:ext cx="22037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DE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report appears on the GIS dashboard, confirming or downgrading the alert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5623560"/>
            <a:ext cx="10789920" cy="594360"/>
          </a:xfrm>
          <a:prstGeom prst="roundRect">
            <a:avLst>
              <a:gd name="adj" fmla="val 9231"/>
            </a:avLst>
          </a:prstGeom>
          <a:solidFill>
            <a:srgbClr val="EFE7D8"/>
          </a:solidFill>
          <a:ln w="12700">
            <a:solidFill>
              <a:srgbClr val="E8862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574243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source: published rainfall intensity-duration studies for NE India — not an invented cutoff.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· PS 26001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61288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43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66928"/>
            <a:ext cx="146304" cy="146304"/>
          </a:xfrm>
          <a:prstGeom prst="triangle">
            <a:avLst/>
          </a:prstGeom>
          <a:solidFill>
            <a:srgbClr val="E8862C"/>
          </a:solidFill>
          <a:ln w="12700">
            <a:solidFill>
              <a:srgbClr val="E8862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with accessible, well-documented tools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5394960" cy="1234440"/>
          </a:xfrm>
          <a:prstGeom prst="roundRect">
            <a:avLst>
              <a:gd name="adj" fmla="val 5185"/>
            </a:avLst>
          </a:prstGeom>
          <a:solidFill>
            <a:srgbClr val="2E3E4C"/>
          </a:solidFill>
          <a:ln w="12700">
            <a:solidFill>
              <a:srgbClr val="3E516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1031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GIS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4688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QGIS, SRTM/Bhoonidhi DEM, GSI landslide inventory, Sentinel-2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3383280"/>
            <a:ext cx="5394960" cy="1234440"/>
          </a:xfrm>
          <a:prstGeom prst="roundRect">
            <a:avLst>
              <a:gd name="adj" fmla="val 5185"/>
            </a:avLst>
          </a:prstGeom>
          <a:solidFill>
            <a:srgbClr val="2E3E4C"/>
          </a:solidFill>
          <a:ln w="12700">
            <a:solidFill>
              <a:srgbClr val="3E516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35204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8862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scikit-learn (logistic regression / random forest)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4800600"/>
            <a:ext cx="5394960" cy="1234440"/>
          </a:xfrm>
          <a:prstGeom prst="roundRect">
            <a:avLst>
              <a:gd name="adj" fmla="val 5185"/>
            </a:avLst>
          </a:prstGeom>
          <a:solidFill>
            <a:srgbClr val="2E3E4C"/>
          </a:solidFill>
          <a:ln w="12700">
            <a:solidFill>
              <a:srgbClr val="3E516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49377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53035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/ Node.js, PostgreSQL + PostGIS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63640" y="1965960"/>
            <a:ext cx="5394960" cy="1234440"/>
          </a:xfrm>
          <a:prstGeom prst="roundRect">
            <a:avLst>
              <a:gd name="adj" fmla="val 5185"/>
            </a:avLst>
          </a:prstGeom>
          <a:solidFill>
            <a:srgbClr val="2E3E4C"/>
          </a:solidFill>
          <a:ln w="12700">
            <a:solidFill>
              <a:srgbClr val="3E516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92240" y="21031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Data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24688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 API (primary), Open-Meteo / NASA GPM (fallback)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63640" y="3383280"/>
            <a:ext cx="5394960" cy="1234440"/>
          </a:xfrm>
          <a:prstGeom prst="roundRect">
            <a:avLst>
              <a:gd name="adj" fmla="val 5185"/>
            </a:avLst>
          </a:prstGeom>
          <a:solidFill>
            <a:srgbClr val="2E3E4C"/>
          </a:solidFill>
          <a:ln w="12700">
            <a:solidFill>
              <a:srgbClr val="3E516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92240" y="35204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38862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Leaflet / Mapbox for heatmap visualization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63640" y="4800600"/>
            <a:ext cx="5394960" cy="1234440"/>
          </a:xfrm>
          <a:prstGeom prst="roundRect">
            <a:avLst>
              <a:gd name="adj" fmla="val 5185"/>
            </a:avLst>
          </a:prstGeom>
          <a:solidFill>
            <a:srgbClr val="2E3E4C"/>
          </a:solidFill>
          <a:ln w="12700">
            <a:solidFill>
              <a:srgbClr val="3E516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92240" y="49377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53035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 / MSG91 for SMS, push notification for app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· PS 26001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161288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66928"/>
            <a:ext cx="146304" cy="146304"/>
          </a:xfrm>
          <a:prstGeom prst="triangle">
            <a:avLst/>
          </a:prstGeom>
          <a:solidFill>
            <a:srgbClr val="E8862C"/>
          </a:solidFill>
          <a:ln w="12700">
            <a:solidFill>
              <a:srgbClr val="E8862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SCOPING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3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real in this build vs. what's next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E9F0E7"/>
          </a:solidFill>
          <a:ln w="19050">
            <a:solidFill>
              <a:srgbClr val="3D6B3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011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&amp; REAL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505456"/>
            <a:ext cx="91440" cy="91440"/>
          </a:xfrm>
          <a:prstGeom prst="oval">
            <a:avLst/>
          </a:prstGeom>
          <a:solidFill>
            <a:srgbClr val="2C5F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23774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24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Susceptibility model trained on actual DEM + GSI landslide data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2960" y="3163824"/>
            <a:ext cx="91440" cy="91440"/>
          </a:xfrm>
          <a:prstGeom prst="oval">
            <a:avLst/>
          </a:prstGeom>
          <a:solidFill>
            <a:srgbClr val="2C5F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1560" y="303580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24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threshold sourced from published NE India studies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2960" y="3822192"/>
            <a:ext cx="91440" cy="91440"/>
          </a:xfrm>
          <a:prstGeom prst="oval">
            <a:avLst/>
          </a:prstGeom>
          <a:solidFill>
            <a:srgbClr val="2C5F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51560" y="369417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24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heatmap dashboard rendering live model output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4480560"/>
            <a:ext cx="91440" cy="91440"/>
          </a:xfrm>
          <a:prstGeom prst="oval">
            <a:avLst/>
          </a:prstGeom>
          <a:solidFill>
            <a:srgbClr val="2C5F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51560" y="435254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24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trigger logic wired to real rainfall API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" y="5138928"/>
            <a:ext cx="91440" cy="91440"/>
          </a:xfrm>
          <a:prstGeom prst="oval">
            <a:avLst/>
          </a:prstGeom>
          <a:solidFill>
            <a:srgbClr val="2C5F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51560" y="501091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24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geo-tagged photo upload, functional end-to-end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035040" y="1783080"/>
            <a:ext cx="5669280" cy="4206240"/>
          </a:xfrm>
          <a:prstGeom prst="roundRect">
            <a:avLst>
              <a:gd name="adj" fmla="val 1739"/>
            </a:avLst>
          </a:prstGeom>
          <a:solidFill>
            <a:srgbClr val="EFE7D8"/>
          </a:solidFill>
          <a:ln w="19050">
            <a:solidFill>
              <a:srgbClr val="E8862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55080" y="2011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A86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— NEXT PHASE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0" y="2505456"/>
            <a:ext cx="91440" cy="91440"/>
          </a:xfrm>
          <a:prstGeom prst="oval">
            <a:avLst/>
          </a:prstGeom>
          <a:solidFill>
            <a:srgbClr val="A863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29400" y="23774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24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In-situ soil moisture sensors (currently: satellite proxy)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0" y="3163824"/>
            <a:ext cx="91440" cy="91440"/>
          </a:xfrm>
          <a:prstGeom prst="oval">
            <a:avLst/>
          </a:prstGeom>
          <a:solidFill>
            <a:srgbClr val="A863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29400" y="303580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24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multilingual SMS/app support across NER languages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0" y="3822192"/>
            <a:ext cx="91440" cy="91440"/>
          </a:xfrm>
          <a:prstGeom prst="oval">
            <a:avLst/>
          </a:prstGeom>
          <a:solidFill>
            <a:srgbClr val="A863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629400" y="3694176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24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mobile app with sync-on-reconnect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0" y="4480560"/>
            <a:ext cx="91440" cy="91440"/>
          </a:xfrm>
          <a:prstGeom prst="oval">
            <a:avLst/>
          </a:prstGeom>
          <a:solidFill>
            <a:srgbClr val="A863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29400" y="4352544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24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from pilot state to full NER, state by state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00800" y="5138928"/>
            <a:ext cx="91440" cy="91440"/>
          </a:xfrm>
          <a:prstGeom prst="oval">
            <a:avLst/>
          </a:prstGeom>
          <a:solidFill>
            <a:srgbClr val="A863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629400" y="501091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24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data-sharing MoU with IMD and state disaster authorities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· PS 26001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161288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43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66928"/>
            <a:ext cx="146304" cy="146304"/>
          </a:xfrm>
          <a:prstGeom prst="triangle">
            <a:avLst/>
          </a:prstGeom>
          <a:solidFill>
            <a:srgbClr val="E8862C"/>
          </a:solidFill>
          <a:ln w="12700">
            <a:solidFill>
              <a:srgbClr val="E8862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reactive reporting to preventive action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2651760" cy="3566160"/>
          </a:xfrm>
          <a:prstGeom prst="roundRect">
            <a:avLst>
              <a:gd name="adj" fmla="val 2759"/>
            </a:avLst>
          </a:prstGeom>
          <a:solidFill>
            <a:srgbClr val="2E3E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2860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886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9260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Earlier warning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56616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Authorities get zone-level risk flags before rainfall peaks, not after failure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2011680"/>
            <a:ext cx="2651760" cy="3566160"/>
          </a:xfrm>
          <a:prstGeom prst="roundRect">
            <a:avLst>
              <a:gd name="adj" fmla="val 2759"/>
            </a:avLst>
          </a:prstGeom>
          <a:solidFill>
            <a:srgbClr val="2E3E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66160" y="22860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886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66160" y="29260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 verification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356616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reports confirm ground truth in near real time, reducing false alarms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2011680"/>
            <a:ext cx="2651760" cy="3566160"/>
          </a:xfrm>
          <a:prstGeom prst="roundRect">
            <a:avLst>
              <a:gd name="adj" fmla="val 2759"/>
            </a:avLst>
          </a:prstGeom>
          <a:solidFill>
            <a:srgbClr val="2E3E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46520" y="22860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886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46520" y="29260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Better prioritisation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356616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teams focus on highest-risk zones first, using the dashboard ranking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098280" y="2011680"/>
            <a:ext cx="2651760" cy="3566160"/>
          </a:xfrm>
          <a:prstGeom prst="roundRect">
            <a:avLst>
              <a:gd name="adj" fmla="val 2759"/>
            </a:avLst>
          </a:prstGeom>
          <a:solidFill>
            <a:srgbClr val="2E3E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326880" y="22860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886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326880" y="29260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Scalable foundation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9326880" y="356616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validated on one state, architecture ready to extend across NER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· PS 26001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161288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43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5394960"/>
            <a:ext cx="2926080" cy="1463040"/>
          </a:xfrm>
          <a:prstGeom prst="triangle">
            <a:avLst/>
          </a:prstGeom>
          <a:solidFill>
            <a:srgbClr val="2E3E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0" y="4846320"/>
            <a:ext cx="3657600" cy="2011680"/>
          </a:xfrm>
          <a:prstGeom prst="triangle">
            <a:avLst/>
          </a:prstGeom>
          <a:solidFill>
            <a:srgbClr val="2E3E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54880" y="5212080"/>
            <a:ext cx="3291840" cy="1645920"/>
          </a:xfrm>
          <a:prstGeom prst="triangle">
            <a:avLst/>
          </a:prstGeom>
          <a:solidFill>
            <a:srgbClr val="2E3E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0" y="4663440"/>
            <a:ext cx="4114800" cy="2194560"/>
          </a:xfrm>
          <a:prstGeom prst="triangle">
            <a:avLst/>
          </a:prstGeom>
          <a:solidFill>
            <a:srgbClr val="2E3E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0" y="5486400"/>
            <a:ext cx="2743200" cy="1371600"/>
          </a:xfrm>
          <a:prstGeom prst="triangle">
            <a:avLst/>
          </a:prstGeom>
          <a:solidFill>
            <a:srgbClr val="2E3E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2377440"/>
            <a:ext cx="146304" cy="146304"/>
          </a:xfrm>
          <a:prstGeom prst="triangle">
            <a:avLst/>
          </a:prstGeom>
          <a:solidFill>
            <a:srgbClr val="E8862C"/>
          </a:solidFill>
          <a:ln w="12700">
            <a:solidFill>
              <a:srgbClr val="E8862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2860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200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 — including the hard ones.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3840480"/>
            <a:ext cx="2011680" cy="0"/>
          </a:xfrm>
          <a:prstGeom prst="line">
            <a:avLst/>
          </a:prstGeom>
          <a:noFill/>
          <a:ln w="31750">
            <a:solidFill>
              <a:srgbClr val="E8862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  ·  Branch  ·  Internal Hackathon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2026-08-29T06:40:51Z</dcterms:created>
  <dcterms:modified xsi:type="dcterms:W3CDTF">2026-08-29T06:40:51Z</dcterms:modified>
</cp:coreProperties>
</file>